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sk ajay" userId="b6ef4d014175d06b" providerId="LiveId" clId="{EC936E2D-75D5-4AA0-BBAA-FD3F7C0879E0}"/>
    <pc:docChg chg="modSld">
      <pc:chgData name="dsk ajay" userId="b6ef4d014175d06b" providerId="LiveId" clId="{EC936E2D-75D5-4AA0-BBAA-FD3F7C0879E0}" dt="2026-08-23T16:16:24.744" v="2" actId="1076"/>
      <pc:docMkLst>
        <pc:docMk/>
      </pc:docMkLst>
      <pc:sldChg chg="modSp mod">
        <pc:chgData name="dsk ajay" userId="b6ef4d014175d06b" providerId="LiveId" clId="{EC936E2D-75D5-4AA0-BBAA-FD3F7C0879E0}" dt="2026-08-23T16:16:24.744" v="2" actId="1076"/>
        <pc:sldMkLst>
          <pc:docMk/>
          <pc:sldMk cId="0" sldId="263"/>
        </pc:sldMkLst>
        <pc:spChg chg="mod">
          <ac:chgData name="dsk ajay" userId="b6ef4d014175d06b" providerId="LiveId" clId="{EC936E2D-75D5-4AA0-BBAA-FD3F7C0879E0}" dt="2026-08-23T16:16:17.750" v="0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sk ajay" userId="b6ef4d014175d06b" providerId="LiveId" clId="{EC936E2D-75D5-4AA0-BBAA-FD3F7C0879E0}" dt="2026-08-23T16:16:24.744" v="2" actId="1076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51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oisterous-froyo-7ebad8.netlify.app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oisterous-froyo-7ebad8.netlify.app/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eb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1417320"/>
            <a:ext cx="5120640" cy="2542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03720" y="1417320"/>
            <a:ext cx="5120640" cy="2542032"/>
          </a:xfrm>
          <a:prstGeom prst="rect">
            <a:avLst/>
          </a:prstGeom>
          <a:ln w="19050">
            <a:solidFill>
              <a:srgbClr val="5A9A5D"/>
            </a:solidFill>
            <a:prstDash val="solid"/>
          </a:ln>
        </p:spPr>
      </p:sp>
      <p:pic>
        <p:nvPicPr>
          <p:cNvPr id="4" name="Image 1" descr="/home/claude/work/assets/app_hom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83880" y="4160520"/>
            <a:ext cx="1691640" cy="35844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183880" y="4160520"/>
            <a:ext cx="1691640" cy="3584448"/>
          </a:xfrm>
          <a:prstGeom prst="roundRect">
            <a:avLst>
              <a:gd name="adj" fmla="val 6486"/>
            </a:avLst>
          </a:prstGeom>
          <a:ln w="19050">
            <a:solidFill>
              <a:srgbClr val="5A9A5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AGRICULTURE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4360" y="1874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Doctor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640080" y="30632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Crop Health Assistant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40080" y="36118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9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intelligence. Offline reliability.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41148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photo. Detect a crop-health issue. Understand it. Act early — even without internet.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5989320"/>
            <a:ext cx="320040" cy="27432"/>
          </a:xfrm>
          <a:prstGeom prst="rect">
            <a:avLst/>
          </a:prstGeom>
          <a:solidFill>
            <a:srgbClr val="5A9A5D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6080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boisterous-froyo-7ebad8.netlify.app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F3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cannot identify crop diseases quickly without expert help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2199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action leads to visible crop damage before help arrives.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F3E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is weak or expensive in rural areas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27355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tools fail exactly where farmers need them most.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F3E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39319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diagnosis means lost crops and lost income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3251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of uncertainty compounds the damage in the field.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01000" y="1874520"/>
            <a:ext cx="3703320" cy="3566160"/>
          </a:xfrm>
          <a:prstGeom prst="roundRect">
            <a:avLst>
              <a:gd name="adj" fmla="val 2564"/>
            </a:avLst>
          </a:prstGeom>
          <a:solidFill>
            <a:srgbClr val="F5F8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THEME ALIGNMENT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53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2907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Rural Development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75320" y="3520440"/>
            <a:ext cx="3154680" cy="0"/>
          </a:xfrm>
          <a:prstGeom prst="line">
            <a:avLst/>
          </a:prstGeom>
          <a:noFill/>
          <a:ln w="12700">
            <a:solidFill>
              <a:srgbClr val="D9E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3959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 ·  Sustainability  ·  Social Impact</a:t>
            </a:r>
            <a:endParaRPr lang="en-US" sz="1200" dirty="0"/>
          </a:p>
        </p:txBody>
      </p:sp>
      <p:pic>
        <p:nvPicPr>
          <p:cNvPr id="24" name="Image 0" descr="/home/claude/work/assets/web_diagno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75320" y="4526280"/>
            <a:ext cx="3154680" cy="685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AI: Best of Both Worlds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“Crop Doctor doesn’t assume connectivity. It adapts to it.”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5F8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4A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+ updated knowledge + weather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4231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5F8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6974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4A2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model runs directly on the phone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4231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5F8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6974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4A2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Switching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senses connectivity and picks the best path — the farmer doesn’t need to understand the tech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gets useful results whether connected or not.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1292840" cy="1051560"/>
          </a:xfrm>
          <a:prstGeom prst="roundRect">
            <a:avLst>
              <a:gd name="adj" fmla="val 6957"/>
            </a:avLst>
          </a:prstGeom>
          <a:solidFill>
            <a:srgbClr val="E9F3E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85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→ clear result.  Low confidence → asks for a retake.  Disagreement between online/offline → flags expert review. It never forces a guess.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Crop Doctor Delivers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5F8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F3E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Online + Offline AI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works even without internet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5F8F5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F3E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Uncertainty Handling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8056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results, not forced answers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5F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F3EA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Telugu in the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5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F3E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(Chat)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questions in plain language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70332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5F8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F3EA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Insights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8056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weather shown alongside diagnosis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70332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5F8F5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532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F3EA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History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7532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past scans and monitor over 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94360" cy="841248"/>
          </a:xfrm>
          <a:prstGeom prst="roundRect">
            <a:avLst>
              <a:gd name="adj" fmla="val 12308"/>
            </a:avLst>
          </a:prstGeom>
          <a:solidFill>
            <a:srgbClr val="5A9A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D3E28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78308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1783080"/>
            <a:ext cx="7818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takes a clear photo of the crop / leaf via the Flutter 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94360" cy="841248"/>
          </a:xfrm>
          <a:prstGeom prst="roundRect">
            <a:avLst>
              <a:gd name="adj" fmla="val 12308"/>
            </a:avLst>
          </a:prstGeom>
          <a:solidFill>
            <a:srgbClr val="5A9A5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88720" y="274320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D3E28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74320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7818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checks connectivity + image quality, then auto-routes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94360" cy="841248"/>
          </a:xfrm>
          <a:prstGeom prst="roundRect">
            <a:avLst>
              <a:gd name="adj" fmla="val 12308"/>
            </a:avLst>
          </a:prstGeom>
          <a:solidFill>
            <a:srgbClr val="5A9A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0332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88720" y="370332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D3E28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70332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703320"/>
            <a:ext cx="7818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on-device TFLite model  |  Online: FastAPI cloud backend + weather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594360" cy="841248"/>
          </a:xfrm>
          <a:prstGeom prst="roundRect">
            <a:avLst>
              <a:gd name="adj" fmla="val 12308"/>
            </a:avLst>
          </a:prstGeom>
          <a:solidFill>
            <a:srgbClr val="5A9A5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6344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88720" y="466344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D3E28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466344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4663440"/>
            <a:ext cx="7818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layer compares results, flags agreement / disagreement / uncertainty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623560"/>
            <a:ext cx="594360" cy="841248"/>
          </a:xfrm>
          <a:prstGeom prst="roundRect">
            <a:avLst>
              <a:gd name="adj" fmla="val 12308"/>
            </a:avLst>
          </a:prstGeom>
          <a:solidFill>
            <a:srgbClr val="5A9A5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62356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188720" y="562356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D3E28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562356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03320" y="5623560"/>
            <a:ext cx="7818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sees likely issue, confidence, plain explanation, recommended action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28016" cy="658368"/>
          </a:xfrm>
          <a:prstGeom prst="roundRect">
            <a:avLst/>
          </a:prstGeom>
          <a:solidFill>
            <a:srgbClr val="5A9A5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 — fast, cross-platform, fully offline-capable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128016" cy="658368"/>
          </a:xfrm>
          <a:prstGeom prst="roundRect">
            <a:avLst/>
          </a:prstGeom>
          <a:solidFill>
            <a:srgbClr val="5A9A5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420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5420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MobileNetV3 / EfficientNet-Lite → TensorFlow Lite   |   Cloud: FastAPI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128016" cy="658368"/>
          </a:xfrm>
          <a:prstGeom prst="roundRect">
            <a:avLst/>
          </a:prstGeom>
          <a:solidFill>
            <a:srgbClr val="5A9A5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009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300984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TensorFlow / Keras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59936"/>
            <a:ext cx="128016" cy="658368"/>
          </a:xfrm>
          <a:prstGeom prst="roundRect">
            <a:avLst/>
          </a:prstGeom>
          <a:solidFill>
            <a:srgbClr val="5A9A5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599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059936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SQLite   |   Optional Cloud: Firebase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18888"/>
            <a:ext cx="128016" cy="658368"/>
          </a:xfrm>
          <a:prstGeom prst="roundRect">
            <a:avLst/>
          </a:prstGeom>
          <a:solidFill>
            <a:srgbClr val="5A9A5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18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481888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Netlify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28016" cy="658368"/>
          </a:xfrm>
          <a:prstGeom prst="roundRect">
            <a:avLst/>
          </a:prstGeom>
          <a:solidFill>
            <a:srgbClr val="5A9A5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778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55778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open-source tools — no expensive sensors or hardware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Screenshots</a:t>
            </a:r>
            <a:endParaRPr lang="en-US" sz="3400" dirty="0"/>
          </a:p>
        </p:txBody>
      </p:sp>
      <p:pic>
        <p:nvPicPr>
          <p:cNvPr id="5" name="Image 0" descr="/home/claude/work/assets/app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1783080"/>
            <a:ext cx="196596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5256" y="1783080"/>
            <a:ext cx="1965960" cy="4160520"/>
          </a:xfrm>
          <a:prstGeom prst="roundRect">
            <a:avLst>
              <a:gd name="adj" fmla="val 4651"/>
            </a:avLst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6016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pic>
        <p:nvPicPr>
          <p:cNvPr id="8" name="Image 1" descr="/home/claude/work/assets/app_sca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08376" y="1783080"/>
            <a:ext cx="1965960" cy="4160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08376" y="1783080"/>
            <a:ext cx="1965960" cy="4160520"/>
          </a:xfrm>
          <a:prstGeom prst="roundRect">
            <a:avLst>
              <a:gd name="adj" fmla="val 4651"/>
            </a:avLst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08376" y="6016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Crop</a:t>
            </a:r>
            <a:endParaRPr lang="en-US" sz="1100" dirty="0"/>
          </a:p>
        </p:txBody>
      </p:sp>
      <p:pic>
        <p:nvPicPr>
          <p:cNvPr id="11" name="Image 2" descr="/home/claude/work/assets/app_resul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11496" y="1783080"/>
            <a:ext cx="1965960" cy="41605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11496" y="1783080"/>
            <a:ext cx="1965960" cy="4160520"/>
          </a:xfrm>
          <a:prstGeom prst="roundRect">
            <a:avLst>
              <a:gd name="adj" fmla="val 4651"/>
            </a:avLst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111496" y="6016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Result</a:t>
            </a:r>
            <a:endParaRPr lang="en-US" sz="1100" dirty="0"/>
          </a:p>
        </p:txBody>
      </p:sp>
      <p:pic>
        <p:nvPicPr>
          <p:cNvPr id="14" name="Image 3" descr="/home/claude/work/assets/app_offlin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14616" y="1783080"/>
            <a:ext cx="1965960" cy="41605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214616" y="1783080"/>
            <a:ext cx="1965960" cy="4160520"/>
          </a:xfrm>
          <a:prstGeom prst="roundRect">
            <a:avLst>
              <a:gd name="adj" fmla="val 4651"/>
            </a:avLst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214616" y="6016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100" dirty="0"/>
          </a:p>
        </p:txBody>
      </p:sp>
      <p:pic>
        <p:nvPicPr>
          <p:cNvPr id="17" name="Image 4" descr="/home/claude/work/assets/app_telugu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17736" y="1783080"/>
            <a:ext cx="1965960" cy="41605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9317736" y="1783080"/>
            <a:ext cx="1965960" cy="4160520"/>
          </a:xfrm>
          <a:prstGeom prst="roundRect">
            <a:avLst>
              <a:gd name="adj" fmla="val 4651"/>
            </a:avLst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9317736" y="6016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Screenshots</a:t>
            </a:r>
            <a:endParaRPr lang="en-US" sz="3400" dirty="0"/>
          </a:p>
        </p:txBody>
      </p:sp>
      <p:pic>
        <p:nvPicPr>
          <p:cNvPr id="5" name="Image 0" descr="/home/claude/work/assets/web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828800"/>
            <a:ext cx="3611880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28800"/>
            <a:ext cx="3611880" cy="2450592"/>
          </a:xfrm>
          <a:prstGeom prst="rect">
            <a:avLst/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3525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pic>
        <p:nvPicPr>
          <p:cNvPr id="8" name="Image 1" descr="/home/claude/work/assets/web_analyze_select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51960" y="1828800"/>
            <a:ext cx="3611880" cy="2450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1828800"/>
            <a:ext cx="3611880" cy="2450592"/>
          </a:xfrm>
          <a:prstGeom prst="rect">
            <a:avLst/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51960" y="43525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Crop</a:t>
            </a:r>
            <a:endParaRPr lang="en-US" sz="1150" dirty="0"/>
          </a:p>
        </p:txBody>
      </p:sp>
      <p:pic>
        <p:nvPicPr>
          <p:cNvPr id="11" name="Image 2" descr="/home/claude/work/assets/web_resul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6720" y="1828800"/>
            <a:ext cx="3611880" cy="245059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46720" y="1828800"/>
            <a:ext cx="3611880" cy="2450592"/>
          </a:xfrm>
          <a:prstGeom prst="rect">
            <a:avLst/>
          </a:prstGeom>
          <a:ln w="15875">
            <a:solidFill>
              <a:srgbClr val="D9E3D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046720" y="43525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Result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228600" y="4800600"/>
            <a:ext cx="11292840" cy="868680"/>
          </a:xfrm>
          <a:prstGeom prst="roundRect">
            <a:avLst>
              <a:gd name="adj" fmla="val 10526"/>
            </a:avLst>
          </a:prstGeom>
          <a:solidFill>
            <a:srgbClr val="1F4A2C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48006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400" dirty="0"/>
          </a:p>
        </p:txBody>
      </p:sp>
      <p:sp>
        <p:nvSpPr>
          <p:cNvPr id="16" name="Text 11">
            <a:hlinkClick r:id="rId6"/>
          </p:cNvPr>
          <p:cNvSpPr/>
          <p:nvPr/>
        </p:nvSpPr>
        <p:spPr>
          <a:xfrm>
            <a:off x="3429000" y="479145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boisterous-froyo-7ebad8.netlify.app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&amp; 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5F8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Approach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(edge): MobileNetV3 / EfficientNet-Lite, converted to TensorFlow Lite for on-device inference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(cloud): Enhanced analysis via FastAPI backend, combined with live weather data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pipeline: Python + TensorFlow / Keras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 layer compares online and offline predictions for agreement / disagreement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5715000" cy="4206240"/>
          </a:xfrm>
          <a:prstGeom prst="roundRect">
            <a:avLst>
              <a:gd name="adj" fmla="val 2174"/>
            </a:avLst>
          </a:prstGeom>
          <a:solidFill>
            <a:srgbClr val="E9F3E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 (from live app)</a:t>
            </a:r>
            <a:endParaRPr lang="en-US" sz="1500" dirty="0"/>
          </a:p>
        </p:txBody>
      </p:sp>
      <p:pic>
        <p:nvPicPr>
          <p:cNvPr id="10" name="Image 0" descr="/home/claude/work/assets/web_resul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2423160"/>
            <a:ext cx="5166360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09360" y="2423160"/>
            <a:ext cx="5166360" cy="1737360"/>
          </a:xfrm>
          <a:prstGeom prst="rect">
            <a:avLst/>
          </a:prstGeom>
          <a:ln w="12700">
            <a:solidFill>
              <a:srgbClr val="C9DC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4297680"/>
            <a:ext cx="52120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check: Offline AI and Online AI results compared on the same image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agreement → confident guidance shown to farmer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/ low confidence → expert review recommended, not a forced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Us Different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03520" cy="566928"/>
          </a:xfrm>
          <a:prstGeom prst="rect">
            <a:avLst/>
          </a:prstGeom>
          <a:solidFill>
            <a:srgbClr val="1F4A2C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783080"/>
            <a:ext cx="5303520" cy="566928"/>
          </a:xfrm>
          <a:prstGeom prst="rect">
            <a:avLst/>
          </a:prstGeom>
          <a:solidFill>
            <a:srgbClr val="1F4A2C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350008"/>
            <a:ext cx="5303520" cy="566928"/>
          </a:xfrm>
          <a:prstGeom prst="rect">
            <a:avLst/>
          </a:prstGeom>
          <a:solidFill>
            <a:srgbClr val="E9F3EA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000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235000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online + offline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5303520" cy="566928"/>
          </a:xfrm>
          <a:prstGeom prst="rect">
            <a:avLst/>
          </a:prstGeom>
          <a:solidFill>
            <a:srgbClr val="F5F8F5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916936"/>
            <a:ext cx="5303520" cy="566928"/>
          </a:xfrm>
          <a:prstGeom prst="rect">
            <a:avLst/>
          </a:prstGeom>
          <a:solidFill>
            <a:srgbClr val="E9F3EA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1693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prediction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0" y="291693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monitoring over time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3483864"/>
            <a:ext cx="5303520" cy="566928"/>
          </a:xfrm>
          <a:prstGeom prst="rect">
            <a:avLst/>
          </a:prstGeom>
          <a:solidFill>
            <a:srgbClr val="E9F3EA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8386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jargon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0" y="348386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local-language explanations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5303520" cy="566928"/>
          </a:xfrm>
          <a:prstGeom prst="rect">
            <a:avLst/>
          </a:prstGeom>
          <a:solidFill>
            <a:srgbClr val="F5F8F5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4050792"/>
            <a:ext cx="5303520" cy="566928"/>
          </a:xfrm>
          <a:prstGeom prst="rect">
            <a:avLst/>
          </a:prstGeom>
          <a:solidFill>
            <a:srgbClr val="E9F3EA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079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gives an answer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05079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uncertainty + expert-review state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4617720"/>
            <a:ext cx="5303520" cy="566928"/>
          </a:xfrm>
          <a:prstGeom prst="rect">
            <a:avLst/>
          </a:prstGeom>
          <a:solidFill>
            <a:srgbClr val="E9F3EA"/>
          </a:solidFill>
          <a:ln w="9525">
            <a:solidFill>
              <a:srgbClr val="E4E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1772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failure = tool failure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43600" y="461772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 works offline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9F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Future Scope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5F8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(Now)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crops (rice, wheat, cotton)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disease classes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demo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Telugu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9F3E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We are not building a one-crop demo. We are building a platform.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MVP with real farmers; gather feedback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560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Expansion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0" y="2880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crops → 10+ crops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33375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3337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Models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0" y="3657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+ geography-aware crop models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41148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4114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Platform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0" y="4434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languages across regions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48920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48920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Network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agricultural expert review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 — Hybrid AI Crop Health Assistant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Links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 → validate → expand.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6400800" cy="960120"/>
          </a:xfrm>
          <a:prstGeom prst="roundRect">
            <a:avLst>
              <a:gd name="adj" fmla="val 9524"/>
            </a:avLst>
          </a:prstGeom>
          <a:solidFill>
            <a:srgbClr val="1D3E2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3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2834640" y="28346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boisterous-froyo-7ebad8.netlify.app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Crop Doctor Delivers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crop-health information in low-connectivity areas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bridge — technical information in simple, local language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— confidence, uncertainty, and expert escalation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 — online and offline working together</a:t>
            </a:r>
            <a:endParaRPr lang="en-US" sz="1200" dirty="0"/>
          </a:p>
        </p:txBody>
      </p:sp>
      <p:pic>
        <p:nvPicPr>
          <p:cNvPr id="10" name="Image 0" descr="/home/claude/work/assets/web_dashboar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69480" y="1280160"/>
            <a:ext cx="4754880" cy="23957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269480" y="1280160"/>
            <a:ext cx="4754880" cy="2395728"/>
          </a:xfrm>
          <a:prstGeom prst="rect">
            <a:avLst/>
          </a:prstGeom>
          <a:ln w="15875">
            <a:solidFill>
              <a:srgbClr val="5A9A5D"/>
            </a:solidFill>
            <a:prstDash val="solid"/>
          </a:ln>
        </p:spPr>
      </p:sp>
      <p:pic>
        <p:nvPicPr>
          <p:cNvPr id="12" name="Image 1" descr="/home/claude/work/assets/app_resul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89520" y="3886200"/>
            <a:ext cx="1600200" cy="32918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589520" y="3886200"/>
            <a:ext cx="1600200" cy="3291840"/>
          </a:xfrm>
          <a:prstGeom prst="roundRect">
            <a:avLst>
              <a:gd name="adj" fmla="val 5714"/>
            </a:avLst>
          </a:prstGeom>
          <a:ln w="15875">
            <a:solidFill>
              <a:srgbClr val="5A9A5D"/>
            </a:solidFill>
            <a:prstDash val="solid"/>
          </a:ln>
        </p:spPr>
      </p:sp>
      <p:pic>
        <p:nvPicPr>
          <p:cNvPr id="14" name="Image 2" descr="/home/claude/work/assets/app_offlin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72600" y="3886200"/>
            <a:ext cx="1600200" cy="32918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72600" y="3886200"/>
            <a:ext cx="1600200" cy="3291840"/>
          </a:xfrm>
          <a:prstGeom prst="roundRect">
            <a:avLst>
              <a:gd name="adj" fmla="val 5714"/>
            </a:avLst>
          </a:prstGeom>
          <a:ln w="15875">
            <a:solidFill>
              <a:srgbClr val="5A9A5D"/>
            </a:solidFill>
            <a:prstDash val="solid"/>
          </a:ln>
        </p:spPr>
      </p:sp>
      <p:pic>
        <p:nvPicPr>
          <p:cNvPr id="16" name="Image 3" descr="/home/claude/work/assets/web_resul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64240" y="3886200"/>
            <a:ext cx="960120" cy="32918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064240" y="3886200"/>
            <a:ext cx="960120" cy="3291840"/>
          </a:xfrm>
          <a:prstGeom prst="rect">
            <a:avLst/>
          </a:prstGeom>
          <a:ln w="15875">
            <a:solidFill>
              <a:srgbClr val="5A9A5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Widescreen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dsk ajay</cp:lastModifiedBy>
  <cp:revision>1</cp:revision>
  <dcterms:created xsi:type="dcterms:W3CDTF">2026-08-23T16:10:14Z</dcterms:created>
  <dcterms:modified xsi:type="dcterms:W3CDTF">2026-08-23T16:16:27Z</dcterms:modified>
</cp:coreProperties>
</file>